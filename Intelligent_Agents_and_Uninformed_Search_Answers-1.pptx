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0" y="731520"/>
            <a:ext cx="2286000" cy="109728"/>
          </a:xfrm>
          <a:prstGeom prst="rect">
            <a:avLst/>
          </a:prstGeom>
          <a:solidFill>
            <a:srgbClr val="1F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1051560"/>
            <a:ext cx="1645920" cy="109728"/>
          </a:xfrm>
          <a:prstGeom prst="rect">
            <a:avLst/>
          </a:prstGeom>
          <a:solidFill>
            <a:srgbClr val="F5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21040" y="1371600"/>
            <a:ext cx="2926080" cy="109728"/>
          </a:xfrm>
          <a:prstGeom prst="rect">
            <a:avLst/>
          </a:prstGeom>
          <a:solidFill>
            <a:srgbClr val="2A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71323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FA69A"/>
                </a:solidFill>
                <a:latin typeface="Aptos"/>
              </a:defRPr>
            </a:pPr>
            <a:r>
              <a:t>DESCRIPTIVE WRITTEN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51560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Intelligent Agents</a:t>
            </a:r>
            <a:br/>
            <a:r>
              <a:t>&amp; Uninformed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97840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D1DEEC"/>
                </a:solidFill>
                <a:latin typeface="Aptos"/>
              </a:defRPr>
            </a:pPr>
            <a:r>
              <a:t>Model answers for Smart Home Automation and Robot Maze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68580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5B53D"/>
                </a:solidFill>
                <a:latin typeface="Aptos"/>
              </a:defRPr>
            </a:pPr>
            <a:r>
              <a:t>AI • Agent Design • Search Strategies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21792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2860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FA69A"/>
                </a:solidFill>
                <a:latin typeface="Aptos"/>
              </a:defRPr>
            </a:pPr>
            <a:r>
              <a:t>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2223E"/>
                </a:solidFill>
                <a:latin typeface="Aptos"/>
              </a:defRPr>
            </a:pPr>
            <a:r>
              <a:t>Smart Home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E6C7D"/>
                </a:solidFill>
                <a:latin typeface="Aptos"/>
              </a:defRPr>
            </a:pPr>
            <a:r>
              <a:t>Goal: balance comfort, energy efficiency, and security.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7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5204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73152" cy="1508760"/>
          </a:xfrm>
          <a:prstGeom prst="rect">
            <a:avLst/>
          </a:prstGeom>
          <a:solidFill>
            <a:srgbClr val="1F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84708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Inputs / Percepts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12848"/>
            <a:ext cx="3200400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Motion sensors • temperature • time of day • door/window sensors • user settings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37360"/>
            <a:ext cx="35204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73152" cy="1508760"/>
          </a:xfrm>
          <a:prstGeom prst="rect">
            <a:avLst/>
          </a:prstGeom>
          <a:solidFill>
            <a:srgbClr val="2A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Possible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12848"/>
            <a:ext cx="3200400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Switch lights • adjust thermostat • lock doors • send alerts • learn routines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37360"/>
            <a:ext cx="35204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737360"/>
            <a:ext cx="73152" cy="1508760"/>
          </a:xfrm>
          <a:prstGeom prst="rect">
            <a:avLst/>
          </a:prstGeom>
          <a:solidFill>
            <a:srgbClr val="F5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4708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Performance Measures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12848"/>
            <a:ext cx="3200400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Comfort • low energy use • fast response • privacy • reliable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03320"/>
            <a:ext cx="106984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12223E"/>
                </a:solidFill>
                <a:latin typeface="Aptos"/>
              </a:defRPr>
            </a:pPr>
            <a:r>
              <a:t>An intelligent agent senses the home, chooses an action, and acts on the environment.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43400"/>
            <a:ext cx="10698480" cy="1417320"/>
          </a:xfrm>
          <a:prstGeom prst="rect">
            <a:avLst/>
          </a:prstGeom>
          <a:noFill/>
        </p:spPr>
        <p:txBody>
          <a:bodyPr wrap="square" lIns="109728" tIns="54864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The system must react immediately to important events.</a:t>
            </a:r>
          </a:p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It should remember relevant past states and adapt to user preferences.</a:t>
            </a:r>
          </a:p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One fixed rule is not enough when comfort, cost, and safety can conflict.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2860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FA69A"/>
                </a:solidFill>
                <a:latin typeface="Aptos"/>
              </a:defRPr>
            </a:pPr>
            <a:r>
              <a:t>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2223E"/>
                </a:solidFill>
                <a:latin typeface="Aptos"/>
              </a:defRPr>
            </a:pPr>
            <a:r>
              <a:t>Four Types of Intelligent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E6C7D"/>
                </a:solidFill>
                <a:latin typeface="Aptos"/>
              </a:defRPr>
            </a:pPr>
            <a:r>
              <a:t>Each type makes decisions using a different amount of information.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7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94960" cy="169164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73152" cy="1691640"/>
          </a:xfrm>
          <a:prstGeom prst="rect">
            <a:avLst/>
          </a:prstGeom>
          <a:solidFill>
            <a:srgbClr val="1F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55648"/>
            <a:ext cx="5074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1. Simple Reflex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21408"/>
            <a:ext cx="5074920" cy="11612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Uses condition–action rules based only on the current percept.</a:t>
            </a:r>
            <a:br/>
            <a:r>
              <a:t>Example: if motion is detected at night, turn on the hallway light.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303520" cy="169164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73152" cy="1691640"/>
          </a:xfrm>
          <a:prstGeom prst="rect">
            <a:avLst/>
          </a:prstGeom>
          <a:solidFill>
            <a:srgbClr val="2A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55648"/>
            <a:ext cx="4983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2. Model-Based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21408"/>
            <a:ext cx="4983480" cy="11612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Maintains an internal state of the world using current and past percepts.</a:t>
            </a:r>
            <a:br/>
            <a:r>
              <a:t>Example: remembers whether a room is occupied and whether a window is open.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5394960" cy="169164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11880"/>
            <a:ext cx="73152" cy="1691640"/>
          </a:xfrm>
          <a:prstGeom prst="rect">
            <a:avLst/>
          </a:prstGeom>
          <a:solidFill>
            <a:srgbClr val="F5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721608"/>
            <a:ext cx="5074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3. Goal-Based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087368"/>
            <a:ext cx="5074920" cy="11612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Chooses actions that help achieve a specified goal.</a:t>
            </a:r>
            <a:br/>
            <a:r>
              <a:t>Example: reach a safe temperature while ensuring the home is locked at night.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11880"/>
            <a:ext cx="5303520" cy="169164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11880"/>
            <a:ext cx="73152" cy="1691640"/>
          </a:xfrm>
          <a:prstGeom prst="rect">
            <a:avLst/>
          </a:prstGeom>
          <a:solidFill>
            <a:srgbClr val="1F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721608"/>
            <a:ext cx="4983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4. Utility-Based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087368"/>
            <a:ext cx="4983480" cy="11612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Compares outcomes using a utility score for comfort, energy cost, and security.</a:t>
            </a:r>
            <a:br/>
            <a:r>
              <a:t>Example: selects a temperature that balances comfort and electricity use.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6928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5E6C7D"/>
                </a:solidFill>
                <a:latin typeface="Aptos"/>
              </a:defRPr>
            </a:pPr>
            <a:r>
              <a:t>Key distinction: reflex = current input; model-based = remembered state; goal-based = target; utility-based = best trade-off.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2860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FA69A"/>
                </a:solidFill>
                <a:latin typeface="Aptos"/>
              </a:defRPr>
            </a:pPr>
            <a:r>
              <a:t>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2223E"/>
                </a:solidFill>
                <a:latin typeface="Aptos"/>
              </a:defRPr>
            </a:pPr>
            <a:r>
              <a:t>How Each Agent Functions in the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E6C7D"/>
                </a:solidFill>
                <a:latin typeface="Aptos"/>
              </a:defRPr>
            </a:pPr>
            <a:r>
              <a:t>Practical examples and limitations.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7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2011680" cy="502920"/>
          </a:xfrm>
          <a:prstGeom prst="roundRect">
            <a:avLst/>
          </a:prstGeom>
          <a:solidFill>
            <a:srgbClr val="1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746504"/>
            <a:ext cx="182880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691640"/>
            <a:ext cx="3657600" cy="502920"/>
          </a:xfrm>
          <a:prstGeom prst="roundRect">
            <a:avLst/>
          </a:prstGeom>
          <a:solidFill>
            <a:srgbClr val="1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746504"/>
            <a:ext cx="34747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4937760" cy="502920"/>
          </a:xfrm>
          <a:prstGeom prst="roundRect">
            <a:avLst/>
          </a:prstGeom>
          <a:solidFill>
            <a:srgbClr val="1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46504"/>
            <a:ext cx="47548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Strength / Limitation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313432"/>
            <a:ext cx="2011680" cy="850392"/>
          </a:xfrm>
          <a:prstGeom prst="roundRect">
            <a:avLst/>
          </a:prstGeom>
          <a:solidFill>
            <a:srgbClr val="EF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404872"/>
            <a:ext cx="1792224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2223E"/>
                </a:solidFill>
                <a:latin typeface="Aptos"/>
              </a:defRPr>
            </a:pPr>
            <a:r>
              <a:t>Simple reflex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2313432"/>
            <a:ext cx="3657600" cy="850392"/>
          </a:xfrm>
          <a:prstGeom prst="roundRect">
            <a:avLst/>
          </a:prstGeom>
          <a:solidFill>
            <a:srgbClr val="EF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88" y="2404872"/>
            <a:ext cx="3438144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Motion detected → light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313432"/>
            <a:ext cx="4937760" cy="850392"/>
          </a:xfrm>
          <a:prstGeom prst="roundRect">
            <a:avLst/>
          </a:prstGeom>
          <a:solidFill>
            <a:srgbClr val="EF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404872"/>
            <a:ext cx="4718304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32D3A"/>
                </a:solidFill>
                <a:latin typeface="Aptos"/>
              </a:defRPr>
            </a:pPr>
            <a:r>
              <a:t>Very fast and simple; cannot reason about history or conflicting needs.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73552"/>
            <a:ext cx="2011680" cy="850392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364992"/>
            <a:ext cx="1792224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2223E"/>
                </a:solidFill>
                <a:latin typeface="Aptos"/>
              </a:defRPr>
            </a:pPr>
            <a:r>
              <a:t>Model-based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51760" y="3273552"/>
            <a:ext cx="3657600" cy="850392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1488" y="3364992"/>
            <a:ext cx="3438144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Tracks occupancy, temperature, open windows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273552"/>
            <a:ext cx="4937760" cy="850392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364992"/>
            <a:ext cx="4718304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32D3A"/>
                </a:solidFill>
                <a:latin typeface="Aptos"/>
              </a:defRPr>
            </a:pPr>
            <a:r>
              <a:t>Works with incomplete information; needs a reliable internal model.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33672"/>
            <a:ext cx="2011680" cy="850392"/>
          </a:xfrm>
          <a:prstGeom prst="roundRect">
            <a:avLst/>
          </a:prstGeom>
          <a:solidFill>
            <a:srgbClr val="EF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325112"/>
            <a:ext cx="1792224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2223E"/>
                </a:solidFill>
                <a:latin typeface="Aptos"/>
              </a:defRPr>
            </a:pPr>
            <a:r>
              <a:t>Goal-based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4233672"/>
            <a:ext cx="3657600" cy="850392"/>
          </a:xfrm>
          <a:prstGeom prst="roundRect">
            <a:avLst/>
          </a:prstGeom>
          <a:solidFill>
            <a:srgbClr val="EF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61488" y="4325112"/>
            <a:ext cx="3438144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Keep rooms comfortable and doors secured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233672"/>
            <a:ext cx="4937760" cy="850392"/>
          </a:xfrm>
          <a:prstGeom prst="roundRect">
            <a:avLst/>
          </a:prstGeom>
          <a:solidFill>
            <a:srgbClr val="EF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325112"/>
            <a:ext cx="4718304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32D3A"/>
                </a:solidFill>
                <a:latin typeface="Aptos"/>
              </a:defRPr>
            </a:pPr>
            <a:r>
              <a:t>Plans toward goals; may not compare the cost of different successful plans.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193792"/>
            <a:ext cx="2011680" cy="850392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285232"/>
            <a:ext cx="1792224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2223E"/>
                </a:solidFill>
                <a:latin typeface="Aptos"/>
              </a:defRPr>
            </a:pPr>
            <a:r>
              <a:t>Utility-based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51760" y="5193792"/>
            <a:ext cx="3657600" cy="850392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61488" y="5285232"/>
            <a:ext cx="3438144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Balance comfort, energy bill, and safety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5193792"/>
            <a:ext cx="4937760" cy="850392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5285232"/>
            <a:ext cx="4718304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32D3A"/>
                </a:solidFill>
                <a:latin typeface="Aptos"/>
              </a:defRPr>
            </a:pPr>
            <a:r>
              <a:t>Makes trade-offs; utility weights must be chosen carefully.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806440"/>
            <a:ext cx="106984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FA69A"/>
                </a:solidFill>
                <a:latin typeface="Aptos"/>
              </a:defRPr>
            </a:pPr>
            <a:r>
              <a:t>Learning preference data over time improves predictions, but users should be able to override automation.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2860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FA69A"/>
                </a:solidFill>
                <a:latin typeface="Aptos"/>
              </a:defRPr>
            </a:pPr>
            <a:r>
              <a:t>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2223E"/>
                </a:solidFill>
                <a:latin typeface="Aptos"/>
              </a:defRPr>
            </a:pPr>
            <a:r>
              <a:t>Best Choice: A Hybrid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E6C7D"/>
                </a:solidFill>
                <a:latin typeface="Aptos"/>
              </a:defRPr>
            </a:pPr>
            <a:r>
              <a:t>Combine fast rules with memory, planning, and utility-based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7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103120" cy="777240"/>
          </a:xfrm>
          <a:prstGeom prst="roundRect">
            <a:avLst/>
          </a:prstGeom>
          <a:solidFill>
            <a:srgbClr val="EFF5FA"/>
          </a:solidFill>
          <a:ln>
            <a:solidFill>
              <a:srgbClr val="1F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920240"/>
            <a:ext cx="1956815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2223E"/>
                </a:solidFill>
                <a:latin typeface="Aptos"/>
              </a:defRPr>
            </a:pPr>
            <a:r>
              <a:t>Sensors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12848"/>
            <a:ext cx="1956815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2D3A"/>
                </a:solidFill>
                <a:latin typeface="Aptos"/>
              </a:defRPr>
            </a:pPr>
            <a:r>
              <a:t>Motion • temperature •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8" y="2029968"/>
            <a:ext cx="256032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1FA69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828800"/>
            <a:ext cx="2103120" cy="777240"/>
          </a:xfrm>
          <a:prstGeom prst="roundRect">
            <a:avLst/>
          </a:prstGeom>
          <a:solidFill>
            <a:srgbClr val="EFF5FA"/>
          </a:solidFill>
          <a:ln>
            <a:solidFill>
              <a:srgbClr val="2A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1920240"/>
            <a:ext cx="1956815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2223E"/>
                </a:solidFill>
                <a:latin typeface="Aptos"/>
              </a:defRPr>
            </a:pPr>
            <a:r>
              <a:t>Internal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2212848"/>
            <a:ext cx="1956815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2D3A"/>
                </a:solidFill>
                <a:latin typeface="Aptos"/>
              </a:defRPr>
            </a:pPr>
            <a:r>
              <a:t>Occupancy • routines •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2029968"/>
            <a:ext cx="256032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1FA69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1828800"/>
            <a:ext cx="2103120" cy="777240"/>
          </a:xfrm>
          <a:prstGeom prst="roundRect">
            <a:avLst/>
          </a:prstGeom>
          <a:solidFill>
            <a:srgbClr val="EFF5FA"/>
          </a:solidFill>
          <a:ln>
            <a:solidFill>
              <a:srgbClr val="F5B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13832" y="1920240"/>
            <a:ext cx="1956815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2223E"/>
                </a:solidFill>
                <a:latin typeface="Aptos"/>
              </a:defRPr>
            </a:pPr>
            <a:r>
              <a:t>Goal 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3832" y="2212848"/>
            <a:ext cx="1956815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2D3A"/>
                </a:solidFill>
                <a:latin typeface="Aptos"/>
              </a:defRPr>
            </a:pPr>
            <a:r>
              <a:t>Comfort • safety targets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2029968"/>
            <a:ext cx="256032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1FA69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1828800"/>
            <a:ext cx="2103120" cy="777240"/>
          </a:xfrm>
          <a:prstGeom prst="roundRect">
            <a:avLst/>
          </a:prstGeom>
          <a:solidFill>
            <a:srgbClr val="EFF5FA"/>
          </a:solidFill>
          <a:ln>
            <a:solidFill>
              <a:srgbClr val="1F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2" y="1920240"/>
            <a:ext cx="1956815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2223E"/>
                </a:solidFill>
                <a:latin typeface="Aptos"/>
              </a:defRPr>
            </a:pPr>
            <a:r>
              <a:t>Utility Evaluator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2" y="2212848"/>
            <a:ext cx="1956815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2D3A"/>
                </a:solidFill>
                <a:latin typeface="Aptos"/>
              </a:defRPr>
            </a:pPr>
            <a:r>
              <a:t>Comfort vs. energy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9528" y="2029968"/>
            <a:ext cx="256032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1FA69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95560" y="1828800"/>
            <a:ext cx="1325880" cy="777240"/>
          </a:xfrm>
          <a:prstGeom prst="roundRect">
            <a:avLst/>
          </a:prstGeom>
          <a:solidFill>
            <a:srgbClr val="EFF5FA"/>
          </a:solidFill>
          <a:ln>
            <a:solidFill>
              <a:srgbClr val="2A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68712" y="1920240"/>
            <a:ext cx="1179576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2223E"/>
                </a:solidFill>
                <a:latin typeface="Aptos"/>
              </a:defRPr>
            </a:pPr>
            <a:r>
              <a:t>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68712" y="2212848"/>
            <a:ext cx="1179576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232D3A"/>
                </a:solidFill>
                <a:latin typeface="Aptos"/>
              </a:defRPr>
            </a:pPr>
            <a:r>
              <a:t>Lights • HVAC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154680"/>
            <a:ext cx="35204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154680"/>
            <a:ext cx="73152" cy="1417320"/>
          </a:xfrm>
          <a:prstGeom prst="rect">
            <a:avLst/>
          </a:prstGeom>
          <a:solidFill>
            <a:srgbClr val="1F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26440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Comfort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630168"/>
            <a:ext cx="3200400" cy="8869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Use learned schedules and room occupancy to maintain suitable lighting and temperature.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3154680"/>
            <a:ext cx="35204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3154680"/>
            <a:ext cx="73152" cy="1417320"/>
          </a:xfrm>
          <a:prstGeom prst="rect">
            <a:avLst/>
          </a:prstGeom>
          <a:solidFill>
            <a:srgbClr val="2A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326440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Energy Efficiency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3630168"/>
            <a:ext cx="3200400" cy="8869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Dim or switch off unused devices; optimize heating/cooling without sacrificing comfort.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79" y="3154680"/>
            <a:ext cx="35204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79" y="3154680"/>
            <a:ext cx="73152" cy="1417320"/>
          </a:xfrm>
          <a:prstGeom prst="rect">
            <a:avLst/>
          </a:prstGeom>
          <a:solidFill>
            <a:srgbClr val="F5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59" y="326440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59" y="3630168"/>
            <a:ext cx="3200400" cy="8869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Give alarms and emergency rules priority; send alerts when unusual activity is detected.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166360"/>
            <a:ext cx="1078992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Justification: the hybrid design responds quickly, reasons about hidden states, plans toward goals, and selects the most useful trade-off. Security-critical rules should override convenience.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2860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FA69A"/>
                </a:solidFill>
                <a:latin typeface="Aptos"/>
              </a:defRPr>
            </a:pPr>
            <a: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2223E"/>
                </a:solidFill>
                <a:latin typeface="Aptos"/>
              </a:defRPr>
            </a:pPr>
            <a:r>
              <a:t>Robot in an Unknown Maze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E6C7D"/>
                </a:solidFill>
                <a:latin typeface="Aptos"/>
              </a:defRPr>
            </a:pPr>
            <a:r>
              <a:t>The robot has no map and must discover the layout while searching for the exit.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7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5204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73152" cy="1508760"/>
          </a:xfrm>
          <a:prstGeom prst="rect">
            <a:avLst/>
          </a:prstGeom>
          <a:solidFill>
            <a:srgbClr val="1F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0136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Initial 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3200400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Unknown corridors • obstacles • exit location unknown • only local sensor readings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5204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91640"/>
            <a:ext cx="73152" cy="1508760"/>
          </a:xfrm>
          <a:prstGeom prst="rect">
            <a:avLst/>
          </a:prstGeom>
          <a:solidFill>
            <a:srgbClr val="2A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0136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Search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67128"/>
            <a:ext cx="3200400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States = positions • actions = move • goal test = exit found • path cost = movement cost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691640"/>
            <a:ext cx="35204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691640"/>
            <a:ext cx="73152" cy="1508760"/>
          </a:xfrm>
          <a:prstGeom prst="rect">
            <a:avLst/>
          </a:prstGeom>
          <a:solidFill>
            <a:srgbClr val="F5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80136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Agent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167128"/>
            <a:ext cx="3200400" cy="97840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Explore safely • avoid repeated states • record discoveries • preserve a route to the exit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57600"/>
            <a:ext cx="10789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2223E"/>
                </a:solidFill>
                <a:latin typeface="Aptos"/>
              </a:defRPr>
            </a:pPr>
            <a:r>
              <a:t>Uninformed search uses no heuristic estimate of how close a state is to the exit.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10515600" cy="1371600"/>
          </a:xfrm>
          <a:prstGeom prst="rect">
            <a:avLst/>
          </a:prstGeom>
          <a:noFill/>
        </p:spPr>
        <p:txBody>
          <a:bodyPr wrap="square" lIns="109728" tIns="54864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Uniform Cost Search (UCS) expands the lowest accumulated path-cost node first.</a:t>
            </a:r>
          </a:p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Iterative Deepening Search (IDS) repeats depth-limited search with limits 0, 1, 2, …</a:t>
            </a:r>
          </a:p>
          <a:p>
            <a:pPr>
              <a:spcAft>
                <a:spcPts val="800"/>
              </a:spcAft>
              <a:defRPr sz="1700">
                <a:solidFill>
                  <a:srgbClr val="232D3A"/>
                </a:solidFill>
                <a:latin typeface="Aptos"/>
              </a:defRPr>
            </a:pPr>
            <a:r>
              <a:t>The best method depends on whether path costs differ and how much memory is available.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2860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FA69A"/>
                </a:solidFill>
                <a:latin typeface="Aptos"/>
              </a:defRPr>
            </a:pPr>
            <a: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2223E"/>
                </a:solidFill>
                <a:latin typeface="Aptos"/>
              </a:defRPr>
            </a:pPr>
            <a:r>
              <a:t>Uniform Cost Search (UCS)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E6C7D"/>
                </a:solidFill>
                <a:latin typeface="Aptos"/>
              </a:defRPr>
            </a:pPr>
            <a:r>
              <a:t>Select the frontier node with the smallest accumulated cost g(n).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7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30352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73152" cy="1417320"/>
          </a:xfrm>
          <a:prstGeom prst="rect">
            <a:avLst/>
          </a:prstGeom>
          <a:solidFill>
            <a:srgbClr val="2A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01368"/>
            <a:ext cx="4983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983480" cy="8869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1. Put the start state in a priority queue.</a:t>
            </a:r>
            <a:br/>
            <a:r>
              <a:t>2. Remove the state with the lowest path cost.</a:t>
            </a:r>
            <a:br/>
            <a:r>
              <a:t>3. Expand its valid moves and update cheaper paths.</a:t>
            </a:r>
            <a:br/>
            <a:r>
              <a:t>4. Stop when the exit is removed from the queue.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5780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91640"/>
            <a:ext cx="73152" cy="1417320"/>
          </a:xfrm>
          <a:prstGeom prst="rect">
            <a:avLst/>
          </a:prstGeom>
          <a:solidFill>
            <a:srgbClr val="1F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01368"/>
            <a:ext cx="4937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67128"/>
            <a:ext cx="4937760" cy="8869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Complete when each step cost is positive and the branching factor is finite. Finds a least-cost path even when moves have different costs.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29000"/>
            <a:ext cx="530352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29000"/>
            <a:ext cx="73152" cy="1417320"/>
          </a:xfrm>
          <a:prstGeom prst="rect">
            <a:avLst/>
          </a:prstGeom>
          <a:solidFill>
            <a:srgbClr val="F5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38728"/>
            <a:ext cx="4983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Disadvantages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904487"/>
            <a:ext cx="4983480" cy="8869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Can expand many states and store a large frontier. It may be slow and memory-intensive in a large maze.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29000"/>
            <a:ext cx="525780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429000"/>
            <a:ext cx="73152" cy="1417320"/>
          </a:xfrm>
          <a:prstGeom prst="rect">
            <a:avLst/>
          </a:prstGeom>
          <a:solidFill>
            <a:srgbClr val="2A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538728"/>
            <a:ext cx="4937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Complexity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04487"/>
            <a:ext cx="4937760" cy="8869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For general positive costs, performance depends on cost values. With equal step costs, it behaves like breadth-first search; typical bounds are O(b^(⌊C*/ε⌋+1)) time and space.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03520"/>
            <a:ext cx="106984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2223E"/>
                </a:solidFill>
                <a:latin typeface="Aptos"/>
              </a:defRPr>
            </a:pPr>
            <a:r>
              <a:t>Use UCS when different routes have different costs and the cheapest route matters—not merely the fewest moves.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2860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FA69A"/>
                </a:solidFill>
                <a:latin typeface="Aptos"/>
              </a:defRPr>
            </a:pPr>
            <a: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2223E"/>
                </a:solidFill>
                <a:latin typeface="Aptos"/>
              </a:defRPr>
            </a:pPr>
            <a:r>
              <a:t>Iterative Deepening Search (IDS)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E6C7D"/>
                </a:solidFill>
                <a:latin typeface="Aptos"/>
              </a:defRPr>
            </a:pPr>
            <a:r>
              <a:t>Run depth-first search repeatedly with an increasing depth limit.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7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2057400" cy="914400"/>
          </a:xfrm>
          <a:prstGeom prst="roundRect">
            <a:avLst/>
          </a:prstGeom>
          <a:solidFill>
            <a:srgbClr val="EFF5FA"/>
          </a:solidFill>
          <a:ln>
            <a:solidFill>
              <a:srgbClr val="1F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1874519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Limit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04288"/>
            <a:ext cx="1874519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232D3A"/>
                </a:solidFill>
                <a:latin typeface="Aptos"/>
              </a:defRPr>
            </a:pPr>
            <a:r>
              <a:t>Start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10312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1FA69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828800"/>
            <a:ext cx="2057400" cy="914400"/>
          </a:xfrm>
          <a:prstGeom prst="roundRect">
            <a:avLst/>
          </a:prstGeom>
          <a:solidFill>
            <a:srgbClr val="EFF5FA"/>
          </a:solidFill>
          <a:ln>
            <a:solidFill>
              <a:srgbClr val="2A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965960"/>
            <a:ext cx="1874519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Limit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304288"/>
            <a:ext cx="1874519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232D3A"/>
                </a:solidFill>
                <a:latin typeface="Aptos"/>
              </a:defRPr>
            </a:pPr>
            <a:r>
              <a:t>Start + 1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10312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1FA69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2057400" cy="914400"/>
          </a:xfrm>
          <a:prstGeom prst="roundRect">
            <a:avLst/>
          </a:prstGeom>
          <a:solidFill>
            <a:srgbClr val="EFF5FA"/>
          </a:solidFill>
          <a:ln>
            <a:solidFill>
              <a:srgbClr val="F5B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65960"/>
            <a:ext cx="1874519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Limit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04288"/>
            <a:ext cx="1874519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232D3A"/>
                </a:solidFill>
                <a:latin typeface="Aptos"/>
              </a:defRPr>
            </a:pPr>
            <a:r>
              <a:t>Explore deeper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103120"/>
            <a:ext cx="411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1FA69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828800"/>
            <a:ext cx="2057400" cy="914400"/>
          </a:xfrm>
          <a:prstGeom prst="roundRect">
            <a:avLst/>
          </a:prstGeom>
          <a:solidFill>
            <a:srgbClr val="EFF5FA"/>
          </a:solidFill>
          <a:ln>
            <a:solidFill>
              <a:srgbClr val="1F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965960"/>
            <a:ext cx="1874519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Limit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304288"/>
            <a:ext cx="1874519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232D3A"/>
                </a:solidFill>
                <a:latin typeface="Aptos"/>
              </a:defRPr>
            </a:pPr>
            <a:r>
              <a:t>Continue until exit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46120"/>
            <a:ext cx="35204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246120"/>
            <a:ext cx="73152" cy="1417320"/>
          </a:xfrm>
          <a:prstGeom prst="rect">
            <a:avLst/>
          </a:prstGeom>
          <a:solidFill>
            <a:srgbClr val="1F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35584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721608"/>
            <a:ext cx="3200400" cy="8869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Low memory use; complete for finite branching factor; finds a shallowest-depth solution when step costs are equal.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246120"/>
            <a:ext cx="35204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246120"/>
            <a:ext cx="73152" cy="1417320"/>
          </a:xfrm>
          <a:prstGeom prst="rect">
            <a:avLst/>
          </a:prstGeom>
          <a:solidFill>
            <a:srgbClr val="F5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35584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Disadvantages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721608"/>
            <a:ext cx="3200400" cy="8869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Repeats work at shallow depths and is not optimal when step costs differ.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3246120"/>
            <a:ext cx="35204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79" y="3246120"/>
            <a:ext cx="73152" cy="1417320"/>
          </a:xfrm>
          <a:prstGeom prst="rect">
            <a:avLst/>
          </a:prstGeom>
          <a:solidFill>
            <a:srgbClr val="2A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59" y="335584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Complexity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9" y="3721608"/>
            <a:ext cx="3200400" cy="8869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Time O(b^d); space O(bd), where b is branching factor and d is the shallowest solution depth.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166360"/>
            <a:ext cx="106984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2223E"/>
                </a:solidFill>
                <a:latin typeface="Aptos"/>
              </a:defRPr>
            </a:pPr>
            <a:r>
              <a:t>IDS is attractive when the maze is deep, memory is limited, and each move has the same cost.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2860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FA69A"/>
                </a:solidFill>
                <a:latin typeface="Aptos"/>
              </a:defRPr>
            </a:pPr>
            <a: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2223E"/>
                </a:solidFill>
                <a:latin typeface="Aptos"/>
              </a:defRPr>
            </a:pPr>
            <a:r>
              <a:t>UCS vs. 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E6C7D"/>
                </a:solidFill>
                <a:latin typeface="Aptos"/>
              </a:defRPr>
            </a:pPr>
            <a:r>
              <a:t>Choose based on path costs, memory, and what counts as the best route.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7D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965960" cy="530352"/>
          </a:xfrm>
          <a:prstGeom prst="roundRect">
            <a:avLst/>
          </a:prstGeom>
          <a:solidFill>
            <a:srgbClr val="1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847088"/>
            <a:ext cx="1892807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Strategy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737360"/>
            <a:ext cx="1737360" cy="530352"/>
          </a:xfrm>
          <a:prstGeom prst="roundRect">
            <a:avLst/>
          </a:prstGeom>
          <a:solidFill>
            <a:srgbClr val="1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9776" y="1847088"/>
            <a:ext cx="1664207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Complete?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37360"/>
            <a:ext cx="1920240" cy="530352"/>
          </a:xfrm>
          <a:prstGeom prst="roundRect">
            <a:avLst/>
          </a:prstGeom>
          <a:solidFill>
            <a:srgbClr val="1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847088"/>
            <a:ext cx="184708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Optimal?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737360"/>
            <a:ext cx="1874519" cy="530352"/>
          </a:xfrm>
          <a:prstGeom prst="roundRect">
            <a:avLst/>
          </a:prstGeom>
          <a:solidFill>
            <a:srgbClr val="1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1847088"/>
            <a:ext cx="1801367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1737360"/>
            <a:ext cx="1417320" cy="530352"/>
          </a:xfrm>
          <a:prstGeom prst="roundRect">
            <a:avLst/>
          </a:prstGeom>
          <a:solidFill>
            <a:srgbClr val="1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86215" y="1847088"/>
            <a:ext cx="134416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1737360"/>
            <a:ext cx="1417320" cy="530352"/>
          </a:xfrm>
          <a:prstGeom prst="roundRect">
            <a:avLst/>
          </a:prstGeom>
          <a:solidFill>
            <a:srgbClr val="1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94976" y="1847088"/>
            <a:ext cx="134416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Best 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423160"/>
            <a:ext cx="196596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514600"/>
            <a:ext cx="1837943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2223E"/>
                </a:solidFill>
                <a:latin typeface="Aptos"/>
              </a:defRPr>
            </a:pPr>
            <a:r>
              <a:t>UCS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2423160"/>
            <a:ext cx="173736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7208" y="2514600"/>
            <a:ext cx="1609343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Yes, positive costs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2423160"/>
            <a:ext cx="192024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2514600"/>
            <a:ext cx="1792224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Yes, least cost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423160"/>
            <a:ext cx="1874519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2514600"/>
            <a:ext cx="1746503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Cost-dependent; often high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9640" y="2423160"/>
            <a:ext cx="141732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3648" y="2514600"/>
            <a:ext cx="1289304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2423160"/>
            <a:ext cx="141732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2408" y="2514600"/>
            <a:ext cx="1289304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Unequal costs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3566160"/>
            <a:ext cx="196596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3657600"/>
            <a:ext cx="1837943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2223E"/>
                </a:solidFill>
                <a:latin typeface="Aptos"/>
              </a:defRPr>
            </a:pPr>
            <a:r>
              <a:t>IDS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3566160"/>
            <a:ext cx="173736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07208" y="3657600"/>
            <a:ext cx="1609343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Yes, finite branching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3566160"/>
            <a:ext cx="192024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36008" y="3657600"/>
            <a:ext cx="1792224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Yes, equal costs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3566160"/>
            <a:ext cx="1874519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3657600"/>
            <a:ext cx="1746503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O(b^d)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49640" y="3566160"/>
            <a:ext cx="141732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13648" y="3657600"/>
            <a:ext cx="1289304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O(bd)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3566160"/>
            <a:ext cx="141732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22408" y="3657600"/>
            <a:ext cx="1289304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232D3A"/>
                </a:solidFill>
                <a:latin typeface="Aptos"/>
              </a:defRPr>
            </a:pPr>
            <a:r>
              <a:t>Low memory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074920"/>
            <a:ext cx="106984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5E6C7D"/>
                </a:solidFill>
                <a:latin typeface="Aptos"/>
              </a:defRPr>
            </a:pPr>
            <a:r>
              <a:t>Notation: b = branching factor, d = shallowest solution depth, C* = optimal solution cost, ε = minimum positive step cost.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623560"/>
            <a:ext cx="106984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FA69A"/>
                </a:solidFill>
                <a:latin typeface="Aptos"/>
              </a:defRPr>
            </a:pPr>
            <a:r>
              <a:t>UCS is cost-aware; IDS is memory-efficient and depth-oriented.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22860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1FA69A"/>
                </a:solidFill>
                <a:latin typeface="Aptos"/>
              </a:defRPr>
            </a:pPr>
            <a: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2700" b="1">
                <a:solidFill>
                  <a:srgbClr val="12223E"/>
                </a:solidFill>
                <a:latin typeface="Aptos"/>
              </a:defRPr>
            </a:pPr>
            <a:r>
              <a:t>How Agent Design Affects Maze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61288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5E6C7D"/>
                </a:solidFill>
                <a:latin typeface="Aptos"/>
              </a:defRPr>
            </a:pPr>
            <a:r>
              <a:t>The search algorithm is only one part; the agent's internal representation also matters.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400"/>
              </a:spcAft>
              <a:defRPr sz="900" b="0">
                <a:solidFill>
                  <a:srgbClr val="5E6C7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520440" cy="155448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73152" cy="1554480"/>
          </a:xfrm>
          <a:prstGeom prst="rect">
            <a:avLst/>
          </a:prstGeom>
          <a:solidFill>
            <a:srgbClr val="1F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0136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Simple Reflex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3200400" cy="10241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Moves based only on the current sensor reading, such as turning away from a wall. May loop or miss the exit.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520440" cy="155448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91640"/>
            <a:ext cx="73152" cy="1554480"/>
          </a:xfrm>
          <a:prstGeom prst="rect">
            <a:avLst/>
          </a:prstGeom>
          <a:solidFill>
            <a:srgbClr val="2A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0136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Model-Based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67128"/>
            <a:ext cx="3200400" cy="10241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Builds a map or memory of visited cells, walls, and routes. Helps prevent repeated exploration.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691640"/>
            <a:ext cx="3520440" cy="155448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691640"/>
            <a:ext cx="73152" cy="1554480"/>
          </a:xfrm>
          <a:prstGeom prst="rect">
            <a:avLst/>
          </a:prstGeom>
          <a:solidFill>
            <a:srgbClr val="F5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80136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Goal-Based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167128"/>
            <a:ext cx="3200400" cy="10241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Treats reaching the exit as the goal and searches for a sequence of moves that reaches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14600" y="3657600"/>
            <a:ext cx="35204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14600" y="3657600"/>
            <a:ext cx="73152" cy="1417320"/>
          </a:xfrm>
          <a:prstGeom prst="rect">
            <a:avLst/>
          </a:prstGeom>
          <a:solidFill>
            <a:srgbClr val="1F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376732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Utility-Based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133087"/>
            <a:ext cx="3200400" cy="8869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Can weigh travel cost, battery use, and risk, then select a preferred route.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657600"/>
            <a:ext cx="35204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657600"/>
            <a:ext cx="73152" cy="1417320"/>
          </a:xfrm>
          <a:prstGeom prst="rect">
            <a:avLst/>
          </a:prstGeom>
          <a:solidFill>
            <a:srgbClr val="2A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767328"/>
            <a:ext cx="32004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Recommended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133087"/>
            <a:ext cx="3200400" cy="8869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A model-based, goal-directed agent with UCS or IDS, chosen according to route costs and memory limits.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32120"/>
            <a:ext cx="106984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2223E"/>
                </a:solidFill>
                <a:latin typeface="Aptos"/>
              </a:defRPr>
            </a:pPr>
            <a:r>
              <a:t>For an unknown maze, memory of explored states is essential for robust behavior.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22860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FA69A"/>
                </a:solidFill>
                <a:latin typeface="Aptos"/>
              </a:defRPr>
            </a:pPr>
            <a:r>
              <a:t>FINAL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Recommended Hybrid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521208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73152" cy="1828800"/>
          </a:xfrm>
          <a:prstGeom prst="rect">
            <a:avLst/>
          </a:prstGeom>
          <a:solidFill>
            <a:srgbClr val="1F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48920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Smart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41448"/>
            <a:ext cx="4892040" cy="12984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Use a model-based + goal-based + utility-based agent, with simple reflex rules for urgent security events. This balances comfort, efficiency, and safety.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65960"/>
            <a:ext cx="5212080" cy="1828800"/>
          </a:xfrm>
          <a:prstGeom prst="roundRect">
            <a:avLst/>
          </a:prstGeom>
          <a:solidFill>
            <a:srgbClr val="EFF5FA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965960"/>
            <a:ext cx="73152" cy="1828800"/>
          </a:xfrm>
          <a:prstGeom prst="rect">
            <a:avLst/>
          </a:prstGeom>
          <a:solidFill>
            <a:srgbClr val="F5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75688"/>
            <a:ext cx="48920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23E"/>
                </a:solidFill>
                <a:latin typeface="Aptos"/>
              </a:defRPr>
            </a:pPr>
            <a:r>
              <a:t>Robot Maze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41448"/>
            <a:ext cx="4892040" cy="12984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Use a model-based agent that records visited cells and obstacles. Choose UCS for unequal movement costs; choose IDS for equal costs and limited memory.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43400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Conclusion: the best intelligent agent combines quick reactions with memory and deliberate decision-making. The search strategy should match the problem's cost structure and resource limits.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9788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FA69A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