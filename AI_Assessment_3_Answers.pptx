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7BECC"/>
                </a:solidFill>
                <a:latin typeface="Aptos"/>
              </a:rPr>
              <a:t>SIMATS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40280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  <a:latin typeface="Aptos"/>
              </a:rPr>
              <a:t>Assessment Tool 3 – Descriptive Written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880360"/>
            <a:ext cx="7772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BE46"/>
                </a:solidFill>
                <a:latin typeface="Aptos"/>
              </a:rPr>
              <a:t>Answers &amp; Key Concepts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977639"/>
            <a:ext cx="4892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3977639"/>
            <a:ext cx="82296" cy="1280160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4142231"/>
            <a:ext cx="4526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01  Smart Home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4617720"/>
            <a:ext cx="4526279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Agent types, applications, and hybrid approach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977639"/>
            <a:ext cx="4892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3977639"/>
            <a:ext cx="82296" cy="128016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4142231"/>
            <a:ext cx="4526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02  Robot Maze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4617720"/>
            <a:ext cx="4526279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Uniform Cost Search (UCS) and Iterative Deepening Search (IDS)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989320"/>
            <a:ext cx="10607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DDAEB"/>
                </a:solidFill>
                <a:latin typeface="Aptos"/>
              </a:rPr>
              <a:t>Name: Kishore Kumar V   |   Reg No: 192521371   |   Course Code: CSA1707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1F38"/>
                </a:solidFill>
                <a:latin typeface="Aptos"/>
              </a:rPr>
              <a:t>Assessment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75CA0"/>
                </a:solidFill>
                <a:latin typeface="Aptos"/>
              </a:rPr>
              <a:t>COURSE: CSA1707  •  DURATION: 45 MINUTES  •  TOTAL MARKS: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C6C80"/>
                </a:solidFill>
                <a:latin typeface="Aptos"/>
              </a:rPr>
              <a:t>SIMATS ENGINEERING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275CA0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82296" cy="3566160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73351"/>
            <a:ext cx="4846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F38"/>
                </a:solidFill>
                <a:latin typeface="Aptos"/>
              </a:rPr>
              <a:t>Question 1 — Smart Home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4846320" cy="2816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63040"/>
                </a:solidFill>
                <a:latin typeface="Aptos"/>
              </a:rPr>
              <a:t>Explain four intelligent-agent types:
• Simple reflex
• Model-based
• Goal-based
• Utility-based
Recommend an approach for comfort, energy efficiency, and security.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82296" cy="356616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73351"/>
            <a:ext cx="4846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F38"/>
                </a:solidFill>
                <a:latin typeface="Aptos"/>
              </a:rPr>
              <a:t>Question 2 — Unknown Maze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48839"/>
            <a:ext cx="4846320" cy="2816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63040"/>
                </a:solidFill>
                <a:latin typeface="Aptos"/>
              </a:rPr>
              <a:t>Explain and compare two uninformed search methods:
• Uniform Cost Search (UCS)
• Iterative Deepening Search (IDS)
Relate search strategy to agent design and recommend a combination.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1F38"/>
                </a:solidFill>
                <a:latin typeface="Aptos"/>
              </a:rPr>
              <a:t>Q1. Intelligent Agents in a Smart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75CA0"/>
                </a:solidFill>
                <a:latin typeface="Aptos"/>
              </a:rPr>
              <a:t>HOW THE SYSTEM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C6C80"/>
                </a:solidFill>
                <a:latin typeface="Aptos"/>
              </a:rPr>
              <a:t>SIMATS ENGINEERING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275CA0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470916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63040"/>
                </a:solidFill>
                <a:latin typeface="Aptos"/>
              </a:defRPr>
            </a:pPr>
            <a:r>
              <a:t>Inputs: motion, temperature, time of day, and user preferences.</a:t>
            </a:r>
          </a:p>
          <a:p>
            <a:pPr>
              <a:spcAft>
                <a:spcPts val="1800"/>
              </a:spcAft>
              <a:defRPr sz="2100">
                <a:solidFill>
                  <a:srgbClr val="263040"/>
                </a:solidFill>
                <a:latin typeface="Aptos"/>
              </a:defRPr>
            </a:pPr>
            <a:r>
              <a:t>Sensors observe the environment and send percepts to the intelligent agent.</a:t>
            </a:r>
          </a:p>
          <a:p>
            <a:pPr>
              <a:spcAft>
                <a:spcPts val="1800"/>
              </a:spcAft>
              <a:defRPr sz="2100">
                <a:solidFill>
                  <a:srgbClr val="263040"/>
                </a:solidFill>
                <a:latin typeface="Aptos"/>
              </a:defRPr>
            </a:pPr>
            <a:r>
              <a:t>The agent controls lights, fans, air conditioners, alarms, and locks.</a:t>
            </a:r>
          </a:p>
          <a:p>
            <a:pPr>
              <a:spcAft>
                <a:spcPts val="1800"/>
              </a:spcAft>
              <a:defRPr sz="2100">
                <a:solidFill>
                  <a:srgbClr val="263040"/>
                </a:solidFill>
                <a:latin typeface="Aptos"/>
              </a:defRPr>
            </a:pPr>
            <a:r>
              <a:t>The system should balance comfort, electricity use, cost, and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572000"/>
            <a:ext cx="82296" cy="1051560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736592"/>
            <a:ext cx="30632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F38"/>
                </a:solidFill>
                <a:latin typeface="Aptos"/>
              </a:rPr>
              <a:t>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212080"/>
            <a:ext cx="3063240" cy="301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Collect environmental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57200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4572000"/>
            <a:ext cx="82296" cy="105156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4736592"/>
            <a:ext cx="30632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F38"/>
                </a:solidFill>
                <a:latin typeface="Aptos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5212080"/>
            <a:ext cx="3063240" cy="301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Choose an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57200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4572000"/>
            <a:ext cx="82296" cy="105156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4736592"/>
            <a:ext cx="30632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F38"/>
                </a:solidFill>
                <a:latin typeface="Aptos"/>
              </a:rP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5212080"/>
            <a:ext cx="3063240" cy="301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Operate smart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1F38"/>
                </a:solidFill>
                <a:latin typeface="Aptos"/>
              </a:rPr>
              <a:t>Q1. Simple Reflex and Model-Based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75CA0"/>
                </a:solidFill>
                <a:latin typeface="Aptos"/>
              </a:rPr>
              <a:t>TWO WAYS TO MAKE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C6C80"/>
                </a:solidFill>
                <a:latin typeface="Aptos"/>
              </a:rPr>
              <a:t>SIMATS ENGINEERING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275CA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82296" cy="4434840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493775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F38"/>
                </a:solidFill>
                <a:latin typeface="Aptos"/>
              </a:rPr>
              <a:t>1. Simple Reflex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937759" cy="36850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63040"/>
                </a:solidFill>
                <a:latin typeface="Aptos"/>
              </a:rPr>
              <a:t>• Uses only the current percept and condition–action rules.
• Motion detected → turn ON the light.
• Temperature above 28°C → turn ON the fan.
Advantages: simple, fast, easy to implement.
Limitations: does not remember earlier situations or learn preferences; struggles with complex situations.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82296" cy="443484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81912"/>
            <a:ext cx="493775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F38"/>
                </a:solidFill>
                <a:latin typeface="Aptos"/>
              </a:rPr>
              <a:t>2. Model-Based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57400"/>
            <a:ext cx="4937759" cy="36850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63040"/>
                </a:solidFill>
                <a:latin typeface="Aptos"/>
              </a:rPr>
              <a:t>• Maintains an internal model/state of the environment.
• Uses current input plus remembered information, such as room status and usual arrival time.
Advantages: handles partially observable environments and can make better-informed decisions.
Limitations: more complex; needs memory and an internal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1F38"/>
                </a:solidFill>
                <a:latin typeface="Aptos"/>
              </a:rPr>
              <a:t>Q1. Goal-Based and Utility-Based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75CA0"/>
                </a:solidFill>
                <a:latin typeface="Aptos"/>
              </a:rPr>
              <a:t>PLANNING VERSUS BALANCING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C6C80"/>
                </a:solidFill>
                <a:latin typeface="Aptos"/>
              </a:rPr>
              <a:t>SIMATS ENGINEERING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275CA0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82296" cy="4434840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493775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F38"/>
                </a:solidFill>
                <a:latin typeface="Aptos"/>
              </a:rPr>
              <a:t>3. Goal-Based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937759" cy="36850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63040"/>
                </a:solidFill>
                <a:latin typeface="Aptos"/>
              </a:rPr>
              <a:t>• Selects actions that help achieve defined goals.
• Goals: comfortable temperature, lower electricity use, security, and suitable lighting.
• Example: when a room is empty, switch off unnecessary lights but keep essential security devices active.
Strength: can plan and handle different situations.
Limitation: requires more computation; best action may take longer to select.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82296" cy="443484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81912"/>
            <a:ext cx="493775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F38"/>
                </a:solidFill>
                <a:latin typeface="Aptos"/>
              </a:rPr>
              <a:t>4. Utility-Based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57400"/>
            <a:ext cx="4937759" cy="36850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63040"/>
                </a:solidFill>
                <a:latin typeface="Aptos"/>
              </a:rPr>
              <a:t>• Chooses the action with the highest overall utility.
• Considers comfort, energy use, cost, security, and preferences.
• Example: at 30°C, compare high-power AC, fan-only, or moderate AC cooling and choose the best balance.
Strength: balances competing needs.
Limitation: requires a way to evaluate and compare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1F38"/>
                </a:solidFill>
                <a:latin typeface="Aptos"/>
              </a:rPr>
              <a:t>Q1. Comparison and Best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75CA0"/>
                </a:solidFill>
                <a:latin typeface="Aptos"/>
              </a:rPr>
              <a:t>RECOMMENDED: A HYBRID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C6C80"/>
                </a:solidFill>
                <a:latin typeface="Aptos"/>
              </a:rPr>
              <a:t>SIMATS ENGINEERING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275CA0"/>
                </a:solidFill>
                <a:latin typeface="Aptos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3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749039"/>
                <a:gridCol w="5029200"/>
              </a:tblGrid>
              <a:tr h="56692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Agent Type</a:t>
                      </a:r>
                    </a:p>
                  </a:txBody>
                  <a:tcPr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Main Idea</a:t>
                      </a:r>
                    </a:p>
                  </a:txBody>
                  <a:tcPr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Smart Home Example</a:t>
                      </a:r>
                    </a:p>
                  </a:txBody>
                  <a:tcPr>
                    <a:solidFill>
                      <a:srgbClr val="121F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Simple Reflex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Current condition → action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Motion detected → light ON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Model-Based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Current + previous state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Remembers room/device status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Goal-Based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Works toward a goal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Maintain comfortable temperature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Utility-Based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Best overall option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Balance comfort, energy, and security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4526280"/>
            <a:ext cx="10652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526280"/>
            <a:ext cx="82296" cy="1143000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690872"/>
            <a:ext cx="102870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5166360"/>
            <a:ext cx="102870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63040"/>
                </a:solidFill>
                <a:latin typeface="Aptos"/>
              </a:rPr>
              <a:t>A hybrid of model-based + goal-based + utility-based agents is most effective: remember home/user state, define goals, and select actions that balance comfort, energy efficiency, cost, and security.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1F38"/>
                </a:solidFill>
                <a:latin typeface="Aptos"/>
              </a:rPr>
              <a:t>Q2. Uniform Cost Search (UCS)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75CA0"/>
                </a:solidFill>
                <a:latin typeface="Aptos"/>
              </a:rPr>
              <a:t>SEARCH STRATEGY FOR AN UNKNOWN MAZE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C6C80"/>
                </a:solidFill>
                <a:latin typeface="Aptos"/>
              </a:rPr>
              <a:t>SIMATS ENGINEERING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275CA0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470916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UCS expands the node with the lowest accumulated path cost, using a priority queue.</a:t>
            </a:r>
          </a:p>
          <a:p>
            <a:pPr>
              <a:spcAft>
                <a:spcPts val="12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Process: start at S → add to queue → select lowest-cost node → expand neighbors → repeat until goal G is reached.</a:t>
            </a:r>
          </a:p>
          <a:p>
            <a:pPr>
              <a:spcAft>
                <a:spcPts val="12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Example: if candidate paths cost 10, 6, and 8, UCS selects the path with cost 6 first.</a:t>
            </a:r>
          </a:p>
          <a:p>
            <a:pPr>
              <a:spcAft>
                <a:spcPts val="12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If all moves have equal cost, UCS behaves similarly to Breadth-First Search (BFS).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8006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800600"/>
            <a:ext cx="82296" cy="960120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965192"/>
            <a:ext cx="4846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F38"/>
                </a:solidFill>
                <a:latin typeface="Aptos"/>
              </a:rPr>
              <a:t>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5440680"/>
            <a:ext cx="484632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Complete with positive step costs; finds the least-cost path; supports unequal movement costs.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006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800600"/>
            <a:ext cx="82296" cy="96012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4965192"/>
            <a:ext cx="4846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F38"/>
                </a:solidFill>
                <a:latin typeface="Aptos"/>
              </a:rPr>
              <a:t>Disadvantages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5440680"/>
            <a:ext cx="484632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Can be slow and memory-intensive; stores many frontier nodes.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1F38"/>
                </a:solidFill>
                <a:latin typeface="Aptos"/>
              </a:rPr>
              <a:t>Q2. Iterative Deepening Search (IDS)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75CA0"/>
                </a:solidFill>
                <a:latin typeface="Aptos"/>
              </a:rPr>
              <a:t>PROGRESSIVELY INCREASING DEPTH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C6C80"/>
                </a:solidFill>
                <a:latin typeface="Aptos"/>
              </a:rPr>
              <a:t>SIMATS ENGINEERING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275CA0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470916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IDS repeatedly runs depth-limited DFS with limits 0, 1, 2, 3, … until it finds the exit.</a:t>
            </a:r>
          </a:p>
          <a:p>
            <a:pPr>
              <a:spcAft>
                <a:spcPts val="13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Example: if the exit is at depth 4, the search increases its limit until level 4 is explored.</a:t>
            </a:r>
          </a:p>
          <a:p>
            <a:pPr>
              <a:spcAft>
                <a:spcPts val="13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Advantages: low memory use; complete with finite branching factor; finds the shallowest solution when all step costs are equal.</a:t>
            </a:r>
          </a:p>
          <a:p>
            <a:pPr>
              <a:spcAft>
                <a:spcPts val="13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Disadvantages: repeats earlier searches, causing extra computation; not suitable when path costs differ.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83480"/>
            <a:ext cx="1965960" cy="640080"/>
          </a:xfrm>
          <a:prstGeom prst="round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148072"/>
            <a:ext cx="1810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1F38"/>
                </a:solidFill>
                <a:latin typeface="Aptos"/>
              </a:rPr>
              <a:t>Limit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4983480"/>
            <a:ext cx="1965960" cy="640080"/>
          </a:xfrm>
          <a:prstGeom prst="round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5148072"/>
            <a:ext cx="1810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1F38"/>
                </a:solidFill>
                <a:latin typeface="Aptos"/>
              </a:rPr>
              <a:t>Limit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983480"/>
            <a:ext cx="1965960" cy="640080"/>
          </a:xfrm>
          <a:prstGeom prst="round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5148072"/>
            <a:ext cx="1810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1F38"/>
                </a:solidFill>
                <a:latin typeface="Aptos"/>
              </a:rPr>
              <a:t>Limit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983480"/>
            <a:ext cx="1965960" cy="640080"/>
          </a:xfrm>
          <a:prstGeom prst="round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5148072"/>
            <a:ext cx="1810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1F38"/>
                </a:solidFill>
                <a:latin typeface="Aptos"/>
              </a:rPr>
              <a:t>Limit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4983480"/>
            <a:ext cx="1965960" cy="640080"/>
          </a:xfrm>
          <a:prstGeom prst="round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57232" y="5148072"/>
            <a:ext cx="1810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21F38"/>
                </a:solidFill>
                <a:latin typeface="Aptos"/>
              </a:rPr>
              <a:t>Limit 4 → Goal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1F38"/>
                </a:solidFill>
                <a:latin typeface="Aptos"/>
              </a:rPr>
              <a:t>Q2. UCS vs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75CA0"/>
                </a:solidFill>
                <a:latin typeface="Aptos"/>
              </a:rPr>
              <a:t>TIME AND SPACE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C6C80"/>
                </a:solidFill>
                <a:latin typeface="Aptos"/>
              </a:rPr>
              <a:t>SIMATS ENGINEERING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275CA0"/>
                </a:solidFill>
                <a:latin typeface="Aptos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251960"/>
                <a:gridCol w="443484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UCS</a:t>
                      </a:r>
                    </a:p>
                  </a:txBody>
                  <a:tcPr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IDS</a:t>
                      </a:r>
                    </a:p>
                  </a:txBody>
                  <a:tcPr>
                    <a:solidFill>
                      <a:srgbClr val="121F3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Search basis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Accumulated path cost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Depth limit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Time complexity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O(b^(1 + C*/ε))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O(b^d)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Space complexity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O(b^(1 + C*/ε))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O(bd)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Memory use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Best use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Different movement costs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Unknown solution depth; equal step costs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Main drawback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High memory use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40"/>
                          </a:solidFill>
                        </a:defRPr>
                      </a:pPr>
                      <a:r>
                        <a:t>Repeated searching</a:t>
                      </a:r>
                    </a:p>
                  </a:txBody>
                  <a:tcPr marL="73152" marR="54864">
                    <a:solidFill>
                      <a:srgbClr val="E5ED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715000"/>
            <a:ext cx="1069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C80"/>
                </a:solidFill>
                <a:latin typeface="Aptos"/>
              </a:rPr>
              <a:t>b = branching factor  •  d = shallowest solution depth  •  C* = optimal solution cost  •  ε = minimum step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1F38"/>
                </a:solidFill>
                <a:latin typeface="Aptos"/>
              </a:rPr>
              <a:t>Q2. Agent Design and Final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75CA0"/>
                </a:solidFill>
                <a:latin typeface="Aptos"/>
              </a:rPr>
              <a:t>MATCH THE AGENT AND SEARCH METHOD TO THE MAZE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5C6C80"/>
                </a:solidFill>
                <a:latin typeface="Aptos"/>
              </a:rPr>
              <a:t>SIMATS ENGINEERING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275CA0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82296" cy="3383280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3154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Simple Reflex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3154680" cy="2633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React to immediate conditions (e.g., wall ahead → turn right). May fail to find the best path because it does not remember previous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82296" cy="338328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81912"/>
            <a:ext cx="3154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Model-Based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57400"/>
            <a:ext cx="3154680" cy="2633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Maintains an internal maze representation: visited locations, blocked paths, available paths, and current position.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41732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417320"/>
            <a:ext cx="82296" cy="338328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581912"/>
            <a:ext cx="3154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Goal / Utility-Based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057400"/>
            <a:ext cx="3154680" cy="2633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Goal-based focuses on reaching the exit. Utility-based can weigh distance, movement cost, safety, and battery consumption.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074920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074920"/>
            <a:ext cx="82296" cy="868680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5239512"/>
            <a:ext cx="48006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F38"/>
                </a:solidFill>
                <a:latin typeface="Aptos"/>
              </a:rPr>
              <a:t>Equal movement costs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5715000"/>
            <a:ext cx="480060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Model-Based Agent + IDS: memory-efficient and finds a shallow solution.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074920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5074920"/>
            <a:ext cx="82296" cy="86868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5239512"/>
            <a:ext cx="48006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F38"/>
                </a:solidFill>
                <a:latin typeface="Aptos"/>
              </a:rPr>
              <a:t>Different movement costs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5715000"/>
            <a:ext cx="480060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Model-Based Agent + UCS: considers actual path cost and finds the least-cost path.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332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7BECC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4241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Choose agents and search methods to fit the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1460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82296" cy="1828800"/>
          </a:xfrm>
          <a:prstGeom prst="rect">
            <a:avLst/>
          </a:prstGeom>
          <a:solidFill>
            <a:srgbClr val="37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679192"/>
            <a:ext cx="45720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21F38"/>
                </a:solidFill>
                <a:latin typeface="Aptos"/>
              </a:rPr>
              <a:t>Smart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154680"/>
            <a:ext cx="4572000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63040"/>
                </a:solidFill>
                <a:latin typeface="Aptos"/>
              </a:rPr>
              <a:t>Hybrid model-based + goal-based + utility-based agents balance memory, planning, comfort, energy, and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51460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0" y="2514600"/>
            <a:ext cx="82296" cy="182880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2679192"/>
            <a:ext cx="45720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21F38"/>
                </a:solidFill>
                <a:latin typeface="Aptos"/>
              </a:rPr>
              <a:t>Robot Maze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3154680"/>
            <a:ext cx="4572000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63040"/>
                </a:solidFill>
                <a:latin typeface="Aptos"/>
              </a:rPr>
              <a:t>Use Model-Based + IDS when all moves cost the same; use Model-Based + UCS when movement costs differ.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12080"/>
            <a:ext cx="103327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897880"/>
            <a:ext cx="9601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DDAEB"/>
                </a:solidFill>
                <a:latin typeface="Aptos"/>
              </a:rPr>
              <a:t>Artificial Intelligence • CSA1707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