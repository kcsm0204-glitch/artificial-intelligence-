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457200"/>
            <a:ext cx="2468880" cy="2468880"/>
          </a:xfrm>
          <a:prstGeom prst="ellipse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94560"/>
            <a:ext cx="1463040" cy="1463040"/>
          </a:xfrm>
          <a:prstGeom prst="ellipse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108960"/>
            <a:ext cx="1051560" cy="1051560"/>
          </a:xfrm>
          <a:prstGeom prst="ellipse">
            <a:avLst/>
          </a:prstGeom>
          <a:solidFill>
            <a:srgbClr val="6C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DD3E6"/>
                </a:solidFill>
                <a:latin typeface="Aptos"/>
              </a:defRPr>
            </a:pPr>
            <a:r>
              <a:t>SIMATS ENGINEERING  •  CSA17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8580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CONSTRAINT-BASED</a:t>
            </a:r>
          </a:p>
          <a:p>
            <a:pPr>
              <a:spcAft>
                <a:spcPts val="7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63093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AEBED3"/>
                </a:solidFill>
                <a:latin typeface="Aptos"/>
              </a:defRPr>
            </a:pPr>
            <a:r>
              <a:t>Artificial Intelligence — Assessment Tool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6217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Backtracking Search  •  BFS &amp; A*  •  Online UCS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ED3"/>
                </a:solidFill>
                <a:latin typeface="Aptos"/>
              </a:defRPr>
            </a:pPr>
            <a:r>
              <a:t>Prepared from the supplied assessment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Three AI problems, three search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01  Constraint Satisfaction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311810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Hospital doctor–shift assignment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Method: Backtracking search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Result: D1 = Morning, D2 = Afternoon, D3 = Night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02  Grid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67712"/>
            <a:ext cx="311810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5 × 5 robot environment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Method: Breadth-First Search (BFS), compared with A*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Result: Optimal path cost =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52044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03  Rescue Robot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67712"/>
            <a:ext cx="311810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Partially known disaster building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Method: Online Uniform-Cost Search (UCS)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Result: Cost-aware navigation with re-planning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D3"/>
                </a:solidFill>
                <a:latin typeface="Aptos"/>
              </a:defRPr>
            </a:pPr>
            <a:r>
              <a:t>Core idea: represent the problem, respect constraints, search systematically, and verify the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1 • CSP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Doctor–shift scheduling: variables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416052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3072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Variables &amp;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3072384" cy="3447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Variables: D1, D2, D3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Each domain: {Morning, Afternoon, Night}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Shift order: Morning = 1, Afternoon = 2, Night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74720" cy="416052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10512"/>
            <a:ext cx="3072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221992"/>
            <a:ext cx="3072384" cy="3447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C1: D1 ≠ Night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C2: shift(D2) &lt; shift(D3)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C3: All shifts are different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C4: D3 ≠ Morning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C5: Every doctor gets one shift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566160" cy="416052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10512"/>
            <a:ext cx="31638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Constraint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221992"/>
            <a:ext cx="3163824" cy="3447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Unary pruning: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D1 ∈ {Morning, Afternoon}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D3 ∈ {Afternoon, Night}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C2 already implies D3 ≠ Morning, so C4 is redundant but still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1 •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Backtracking search finds a valid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42519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4855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Search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4855464" cy="3538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Variable order: D1 → D2 → D3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Value order: Morning → Afternoon → Night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1. D1 = Morning ✓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2. D2 = Morning ✗ — shift already used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3. D2 = Afternoon ✓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4. D3 = Morning ✗ — ordering / uniqueness fail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5. D3 = Afternoon ✗ — duplicate shift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6. D3 = Night ✓ — goal reached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49240" cy="18288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10512"/>
            <a:ext cx="494690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Final valid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21992"/>
            <a:ext cx="4946903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MORNING   →   D1</a:t>
            </a:r>
          </a:p>
          <a:p>
            <a:pPr>
              <a:spcAft>
                <a:spcPts val="7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AFTERNOON →   D2</a:t>
            </a:r>
          </a:p>
          <a:p>
            <a:pPr>
              <a:spcAft>
                <a:spcPts val="7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NIGHT     →   D3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349240" cy="21945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867911"/>
            <a:ext cx="494690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4279392"/>
            <a:ext cx="4946903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D1 is not on Night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D2 works before D3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Every shift is unique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D3 is not on Morning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All doctors are assigned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2 • BFS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5 × 5 grid: model and obstacles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7048" y="1828800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5415" y="1828800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43784" y="1828800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828800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487168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7048" y="2487168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5415" y="2487168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3784" y="2487168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2487168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145536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7048" y="3145536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85415" y="3145536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3784" y="3145536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2152" y="3145536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803904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7048" y="3803904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85415" y="3803904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3784" y="3803904"/>
            <a:ext cx="658368" cy="658368"/>
          </a:xfrm>
          <a:prstGeom prst="rect">
            <a:avLst/>
          </a:prstGeom>
          <a:solidFill>
            <a:srgbClr val="603B48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7582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3803904"/>
            <a:ext cx="658368" cy="658368"/>
          </a:xfrm>
          <a:prstGeom prst="rect">
            <a:avLst/>
          </a:prstGeom>
          <a:solidFill>
            <a:srgbClr val="18253D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462272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7048" y="4462272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85415" y="4462272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462272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4462272"/>
            <a:ext cx="658368" cy="658368"/>
          </a:xfrm>
          <a:prstGeom prst="rect">
            <a:avLst/>
          </a:prstGeom>
          <a:solidFill>
            <a:srgbClr val="206469"/>
          </a:solidFill>
          <a:ln>
            <a:solidFill>
              <a:srgbClr val="46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1783080"/>
            <a:ext cx="297180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947672"/>
            <a:ext cx="2569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Problem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2359152"/>
            <a:ext cx="256946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Start S = (0,0)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Goal G = (4,4)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Actions: Up, Down, Left, Right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Step cost: 1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Obstacles are forbidden cells.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783080"/>
            <a:ext cx="342900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1947672"/>
            <a:ext cx="30266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BFS properties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2359152"/>
            <a:ext cx="302666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FIFO queue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Explores level by level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Complete for this finite grid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Optimal when all step costs are equal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Expanded nodes: 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864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D3"/>
                </a:solidFill>
                <a:latin typeface="Aptos"/>
              </a:defRPr>
            </a:pPr>
            <a:r>
              <a:t>X = obstacle   • = selected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2 •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BFS returns an optimal path of cost 8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6675120" cy="201168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627278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Path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6272783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(0,0) → (1,0) → (2,0) → (3,0) → (4,0)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→ (4,1) → (4,2) → (4,3) → (4,4)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794760" cy="201168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856232"/>
            <a:ext cx="3392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267712"/>
            <a:ext cx="3392424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2F6FC"/>
                </a:solidFill>
                <a:latin typeface="Aptos"/>
              </a:defRPr>
            </a:pPr>
            <a:r>
              <a:t>8 moves × cost 1</a:t>
            </a:r>
          </a:p>
          <a:p>
            <a:pPr>
              <a:spcAft>
                <a:spcPts val="700"/>
              </a:spcAft>
              <a:defRPr sz="21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100" b="0">
                <a:solidFill>
                  <a:srgbClr val="F2F6FC"/>
                </a:solidFill>
                <a:latin typeface="Aptos"/>
              </a:defRPr>
            </a:pPr>
            <a:r>
              <a:t>TOTAL =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530352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142231"/>
            <a:ext cx="490118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Why optimal?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553712"/>
            <a:ext cx="4901183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Manhattan distance = |4−0| + |4−0| = 8.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The found path meets this lower bound.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Move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53712"/>
            <a:ext cx="480974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Down × 4, then Right × 4.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No obstacle is entered.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2 •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A* uses the heuristic to expand fewer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383280" cy="352044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29809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980944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Queue: FIFO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Heuristic: not used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Nodes expanded: 19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Path cost: 8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Guarantee: optimal for equal step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352044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01952"/>
            <a:ext cx="29809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A*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13432"/>
            <a:ext cx="2980944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Priority: f(n) = g(n) + h(n)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Heuristic: Manhattan distance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Nodes expanded: 9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Path cost: 8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Guarantee: optimal with admissible heuristic.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383280" cy="352044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01952"/>
            <a:ext cx="298094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A*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13432"/>
            <a:ext cx="2980944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(0,0) → (0,1) → (0,2) → (0,3) → (0,4)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→ (1,4) → (2,4) → (3,4) → (4,4)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Same cost, fewer expansions.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EBED3"/>
                </a:solidFill>
                <a:latin typeface="Aptos"/>
              </a:defRPr>
            </a:pPr>
            <a:r>
              <a:t>A* evaluates both the cost already paid, g(n), and the estimated distance remaining, h(n).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3 • RESCUE 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A partially observable environment needs adaptive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40233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Hard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3118104" cy="3310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Stay inside the grid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Never enter known blocked cells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Move only Up, Down, Left, Right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These remove unsafe or illegal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40233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Costs &amp;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67712"/>
            <a:ext cx="3118104" cy="3310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Normal cell: cost 1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Risky cell: cost 3 (1 + 2 penalty)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Choose the lowest total-cost route, not simply the fewest moves.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520440" cy="40233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Limited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67712"/>
            <a:ext cx="3118104" cy="3310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Sensors reveal only adjacent cells.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The map begins unknown, so the robot must sense, update its map, plan, act, and re-plan.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3 •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Online Uniform-Cost Search (UCS)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1  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Observe adjacent cells: free, risky, or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2 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26771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Add new observations to the internal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856232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3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26771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Run UCS; expand the frontier with the lowest g(n).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22191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4 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3367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Move one step along the cheapest known safe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822191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5  RE-PLAN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23367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Sense again and rerun UCS if the map changes.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657600"/>
            <a:ext cx="3520440" cy="16002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822191"/>
            <a:ext cx="31181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6  RECOVER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233672"/>
            <a:ext cx="3118104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If no route exists, backtrack to an unexplored frontier.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EBED3"/>
                </a:solidFill>
                <a:latin typeface="Aptos"/>
              </a:defRPr>
            </a:pPr>
            <a:r>
              <a:t>Cell-entry cost: normal = 1; risky = 3. Unknown cells are initially assumed free, then re-evaluated after sensing.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3 • AI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Agent design, rationality, and environment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494690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Intelligent agent &amp; PEAS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4946903" cy="3447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Agent: model-based, goal-oriented, cost-aware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Performance: reach survivor, minimise path cost, avoid danger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Environment: damaged building with free, blocked and risky cells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Actuators: four-direction movement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Sensors: adjacent-cell status and current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49240" cy="416052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10512"/>
            <a:ext cx="494690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Environment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21992"/>
            <a:ext cx="4946903" cy="3447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Observability: partially observable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Agents: single agent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Determinism: deterministic (assumed)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Structure: sequential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Dynamics: static / semi-dynamic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State/action space: discrete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Knowledge: initially unknown</a:t>
            </a: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Rationality depends on the information currently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QUESTION 3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Why online UCS is the best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490118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Cost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4901183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Risky route: 5 moves + 2 risk penalty = 7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Safe detour: 6 moves = 6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UCS selects the safe detour (6 &lt; 7). If that detour is later blocked, the robot re-plans and can choose the risky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57800" cy="356616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56232"/>
            <a:ext cx="485546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Compared with other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67712"/>
            <a:ext cx="4855464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BFS / DFS: do not account for unequal risk costs.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Greedy best-first: ignores accumulated path cost.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Offline UCS / A*: needs a known map.</a:t>
            </a: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Online UCS: handles unequal costs and updates its plan as the map is discovered.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EBED3"/>
                </a:solidFill>
                <a:latin typeface="Aptos"/>
              </a:defRPr>
            </a:pPr>
            <a:r>
              <a:t>Limitation: with an incomplete map, the robot cannot guarantee the globally cheapest route in the real building before exploring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DD3E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44168"/>
            <a:ext cx="914400" cy="41148"/>
          </a:xfrm>
          <a:prstGeom prst="rect">
            <a:avLst/>
          </a:prstGeom>
          <a:solidFill>
            <a:srgbClr val="3D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EBE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34290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3072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DD3E6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72384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Backtracking search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D1 = Morning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D2 = Afternoon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D3 = Night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34290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072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C55C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13432"/>
            <a:ext cx="3072384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BFS / A* navigation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Optimal path cost = 8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BFS expansions = 19</a:t>
            </a:r>
          </a:p>
          <a:p>
            <a:pPr>
              <a:spcAft>
                <a:spcPts val="7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A* expansions =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3474720" cy="3429000"/>
          </a:xfrm>
          <a:prstGeom prst="roundRect">
            <a:avLst/>
          </a:prstGeom>
          <a:solidFill>
            <a:srgbClr val="18253D"/>
          </a:solidFill>
          <a:ln>
            <a:solidFill>
              <a:srgbClr val="2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901952"/>
            <a:ext cx="3072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DCA5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313432"/>
            <a:ext cx="3072384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Online UCS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Cost-aware navigation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Safe movement</a:t>
            </a:r>
          </a:p>
          <a:p>
            <a:pPr>
              <a:spcAft>
                <a:spcPts val="7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Continuous sensing and re-planning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Takeaway: the search strategy should match the constraints, costs, and information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